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b3175d2ad_0_3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db3175d2ad_0_3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db3175d2ad_0_3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b3175d2ad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db3175d2ad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db3175d2ad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b3175d2ad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db3175d2ad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db3175d2ad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b3175d2ad_0_3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3db3175d2ad_0_3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db3175d2ad_0_3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b3175d2ad_0_3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db3175d2ad_0_3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db3175d2ad_0_3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db3175d2ad_0_3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db3175d2ad_0_3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db3175d2ad_0_3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b3175d2ad_0_3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db3175d2ad_0_3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db3175d2ad_0_3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6.png"/><Relationship Id="rId6" Type="http://schemas.openxmlformats.org/officeDocument/2006/relationships/image" Target="../media/image12.png"/><Relationship Id="rId7" Type="http://schemas.openxmlformats.org/officeDocument/2006/relationships/image" Target="../media/image2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13.png"/><Relationship Id="rId6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3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/>
          <p:cNvPicPr preferRelativeResize="0"/>
          <p:nvPr/>
        </p:nvPicPr>
        <p:blipFill rotWithShape="1">
          <a:blip r:embed="rId3">
            <a:alphaModFix amt="45000"/>
          </a:blip>
          <a:srcRect b="0" l="0" r="0" t="0"/>
          <a:stretch/>
        </p:blipFill>
        <p:spPr>
          <a:xfrm>
            <a:off x="7132320" y="18288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411480" y="640080"/>
            <a:ext cx="8321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Plant Disease Detection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11480" y="1325880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52B788"/>
                </a:solidFill>
                <a:latin typeface="Georgia"/>
                <a:ea typeface="Georgia"/>
                <a:cs typeface="Georgia"/>
                <a:sym typeface="Georgia"/>
              </a:rPr>
              <a:t>and Explanation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11480" y="1993392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E4C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B7E4C7"/>
                </a:solidFill>
                <a:latin typeface="Calibri"/>
                <a:ea typeface="Calibri"/>
                <a:cs typeface="Calibri"/>
                <a:sym typeface="Calibri"/>
              </a:rPr>
              <a:t>Using Machine Learning and Large Language Models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11480" y="2578608"/>
            <a:ext cx="5943600" cy="36576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411480" y="274320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4C69D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74C69D"/>
                </a:solidFill>
                <a:latin typeface="Calibri"/>
                <a:ea typeface="Calibri"/>
                <a:cs typeface="Calibri"/>
                <a:sym typeface="Calibri"/>
              </a:rPr>
              <a:t>COMP 4118 — Data Mining  |  University of Memphis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11480" y="3246120"/>
            <a:ext cx="5303520" cy="1417320"/>
          </a:xfrm>
          <a:prstGeom prst="rect">
            <a:avLst/>
          </a:prstGeom>
          <a:solidFill>
            <a:srgbClr val="2D6A4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594360" y="3337560"/>
            <a:ext cx="4937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Vidal Calderon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U00825802  |  vcldron1@memphis.edu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Oscar Barreto Lara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U00817669  |  obarretlara@memphis.edu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" name="Google Shape;25;p3"/>
          <p:cNvPicPr preferRelativeResize="0"/>
          <p:nvPr/>
        </p:nvPicPr>
        <p:blipFill rotWithShape="1">
          <a:blip r:embed="rId4">
            <a:alphaModFix amt="70000"/>
          </a:blip>
          <a:srcRect b="0" l="0" r="0" t="0"/>
          <a:stretch/>
        </p:blipFill>
        <p:spPr>
          <a:xfrm>
            <a:off x="7772400" y="4114800"/>
            <a:ext cx="109728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Why Does This Matter?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20040" y="960120"/>
            <a:ext cx="2286000" cy="1828800"/>
          </a:xfrm>
          <a:prstGeom prst="rect">
            <a:avLst/>
          </a:prstGeom>
          <a:solidFill>
            <a:srgbClr val="1B433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320040" y="114300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52B788"/>
                </a:solidFill>
                <a:latin typeface="Georgia"/>
                <a:ea typeface="Georgia"/>
                <a:cs typeface="Georgia"/>
                <a:sym typeface="Georgia"/>
              </a:rPr>
              <a:t>20–40%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20040" y="187452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E4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7E4C7"/>
                </a:solidFill>
                <a:latin typeface="Calibri"/>
                <a:ea typeface="Calibri"/>
                <a:cs typeface="Calibri"/>
                <a:sym typeface="Calibri"/>
              </a:rPr>
              <a:t>of global crop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E4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7E4C7"/>
                </a:solidFill>
                <a:latin typeface="Calibri"/>
                <a:ea typeface="Calibri"/>
                <a:cs typeface="Calibri"/>
                <a:sym typeface="Calibri"/>
              </a:rPr>
              <a:t>yield lost 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E4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7E4C7"/>
                </a:solidFill>
                <a:latin typeface="Calibri"/>
                <a:ea typeface="Calibri"/>
                <a:cs typeface="Calibri"/>
                <a:sym typeface="Calibri"/>
              </a:rPr>
              <a:t>plant diseases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2926080" y="960120"/>
            <a:ext cx="182880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2926080" y="960120"/>
            <a:ext cx="1828800" cy="20116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1880" y="12070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/>
          <p:nvPr/>
        </p:nvSpPr>
        <p:spPr>
          <a:xfrm>
            <a:off x="2999232" y="1709928"/>
            <a:ext cx="16824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2999232" y="2011680"/>
            <a:ext cx="168249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Traditional diagnosis requires manual inspection by agronomists — slow, expensive, and inaccessible in rural areas.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937760" y="960120"/>
            <a:ext cx="182880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4937760" y="960120"/>
            <a:ext cx="1828800" cy="20116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23560" y="12070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"/>
          <p:cNvSpPr/>
          <p:nvPr/>
        </p:nvSpPr>
        <p:spPr>
          <a:xfrm>
            <a:off x="5010912" y="1709928"/>
            <a:ext cx="16824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ML Helps — But Falls Short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010912" y="2011680"/>
            <a:ext cx="168249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ML models predict a disease label, but give farmers NO guidance on what to do next.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949440" y="960120"/>
            <a:ext cx="182880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6949440" y="960120"/>
            <a:ext cx="1828800" cy="20116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" name="Google Shape;4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35240" y="12070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"/>
          <p:cNvSpPr/>
          <p:nvPr/>
        </p:nvSpPr>
        <p:spPr>
          <a:xfrm>
            <a:off x="7022592" y="1709928"/>
            <a:ext cx="168249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Our Solution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7022592" y="2011680"/>
            <a:ext cx="168249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Combine ML classification + Flan-T5 LLM to detect disease AND explain it in plain language.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320040" y="3017520"/>
            <a:ext cx="8503920" cy="594360"/>
          </a:xfrm>
          <a:prstGeom prst="rect">
            <a:avLst/>
          </a:prstGeom>
          <a:solidFill>
            <a:srgbClr val="B7E4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457200" y="3090672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Prediction alone is not enough — farmers need prediction + explanation to take action.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38600" y="3666900"/>
            <a:ext cx="1346075" cy="133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Dataset and Preprocessing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320040" y="914400"/>
            <a:ext cx="3657600" cy="2834640"/>
          </a:xfrm>
          <a:prstGeom prst="rect">
            <a:avLst/>
          </a:prstGeom>
          <a:solidFill>
            <a:srgbClr val="1B433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411480" y="98755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52B788"/>
                </a:solidFill>
                <a:latin typeface="Georgia"/>
                <a:ea typeface="Georgia"/>
                <a:cs typeface="Georgia"/>
                <a:sym typeface="Georgia"/>
              </a:rPr>
              <a:t>New Plant Diseases Dataset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11480" y="1389888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52B788"/>
                </a:solidFill>
                <a:latin typeface="Georgia"/>
                <a:ea typeface="Georgia"/>
                <a:cs typeface="Georgia"/>
                <a:sym typeface="Georgia"/>
              </a:rPr>
              <a:t>~87,000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1874520" y="143560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E4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7E4C7"/>
                </a:solidFill>
                <a:latin typeface="Calibri"/>
                <a:ea typeface="Calibri"/>
                <a:cs typeface="Calibri"/>
                <a:sym typeface="Calibri"/>
              </a:rPr>
              <a:t>total leaf images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11480" y="1847088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52B788"/>
                </a:solidFill>
                <a:latin typeface="Georgia"/>
                <a:ea typeface="Georgia"/>
                <a:cs typeface="Georgia"/>
                <a:sym typeface="Georgia"/>
              </a:rPr>
              <a:t>38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874520" y="189280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E4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7E4C7"/>
                </a:solidFill>
                <a:latin typeface="Calibri"/>
                <a:ea typeface="Calibri"/>
                <a:cs typeface="Calibri"/>
                <a:sym typeface="Calibri"/>
              </a:rPr>
              <a:t>disease classes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11480" y="2304288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52B788"/>
                </a:solidFill>
                <a:latin typeface="Georgia"/>
                <a:ea typeface="Georgia"/>
                <a:cs typeface="Georgia"/>
                <a:sym typeface="Georgia"/>
              </a:rPr>
              <a:t>14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1874520" y="235000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E4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7E4C7"/>
                </a:solidFill>
                <a:latin typeface="Calibri"/>
                <a:ea typeface="Calibri"/>
                <a:cs typeface="Calibri"/>
                <a:sym typeface="Calibri"/>
              </a:rPr>
              <a:t>crop species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11480" y="2761488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52B788"/>
                </a:solidFill>
                <a:latin typeface="Georgia"/>
                <a:ea typeface="Georgia"/>
                <a:cs typeface="Georgia"/>
                <a:sym typeface="Georgia"/>
              </a:rPr>
              <a:t>50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1874520" y="280720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E4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7E4C7"/>
                </a:solidFill>
                <a:latin typeface="Calibri"/>
                <a:ea typeface="Calibri"/>
                <a:cs typeface="Calibri"/>
                <a:sym typeface="Calibri"/>
              </a:rPr>
              <a:t>images/class used (cap)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11480" y="3218688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52B788"/>
                </a:solidFill>
                <a:latin typeface="Georgia"/>
                <a:ea typeface="Georgia"/>
                <a:cs typeface="Georgia"/>
                <a:sym typeface="Georgia"/>
              </a:rPr>
              <a:t>1,900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874520" y="326440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E4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7E4C7"/>
                </a:solidFill>
                <a:latin typeface="Calibri"/>
                <a:ea typeface="Calibri"/>
                <a:cs typeface="Calibri"/>
                <a:sym typeface="Calibri"/>
              </a:rPr>
              <a:t>total samples loaded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206240" y="914400"/>
            <a:ext cx="461772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4343400" y="960120"/>
            <a:ext cx="4343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80 / 20 Stratified Split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343400" y="1280160"/>
            <a:ext cx="3328416" cy="2560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7671816" y="1280160"/>
            <a:ext cx="832104" cy="256032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4389120" y="129844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Train: 1,520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7699248" y="1298448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Test: 380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343400" y="1591056"/>
            <a:ext cx="4343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Stratified → all 38 classes proportionally represented in both splits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206240" y="2331720"/>
            <a:ext cx="461772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4343400" y="2377440"/>
            <a:ext cx="4343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Feature Extraction — RGB Color Histogram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343400" y="2706624"/>
            <a:ext cx="4343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1.  </a:t>
            </a:r>
            <a:r>
              <a:rPr b="0" i="0" lang="en-US" sz="1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Resize each image to 64 × 64 px</a:t>
            </a:r>
            <a:br>
              <a:rPr b="0" i="0" lang="en-US" sz="1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2.  </a:t>
            </a:r>
            <a:r>
              <a:rPr b="0" i="0" lang="en-US" sz="1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Compute 32-bin histogram per channel (R, G, B)</a:t>
            </a:r>
            <a:br>
              <a:rPr b="0" i="0" lang="en-US" sz="1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3.  </a:t>
            </a:r>
            <a:r>
              <a:rPr b="0" i="0" lang="en-US" sz="1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Normalize each histogram (sum = 1)</a:t>
            </a:r>
            <a:br>
              <a:rPr b="0" i="0" lang="en-US" sz="1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4.  </a:t>
            </a:r>
            <a:r>
              <a:rPr b="0" i="0" lang="en-US" sz="1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Concatenate → 96-dimensional feature vector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050" y="3749050"/>
            <a:ext cx="1280150" cy="128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0200" y="3749050"/>
            <a:ext cx="1280150" cy="128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80350" y="3749050"/>
            <a:ext cx="1280150" cy="128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63450" y="3721625"/>
            <a:ext cx="1280150" cy="128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43600" y="3721625"/>
            <a:ext cx="1280150" cy="128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23750" y="3721625"/>
            <a:ext cx="1280150" cy="128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0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Models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320040" y="868680"/>
            <a:ext cx="269748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320040" y="868680"/>
            <a:ext cx="2697480" cy="256032"/>
          </a:xfrm>
          <a:prstGeom prst="rect">
            <a:avLst/>
          </a:prstGeom>
          <a:solidFill>
            <a:srgbClr val="6B9F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365760" y="886968"/>
            <a:ext cx="2606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" name="Google Shape;9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4168" y="11887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6"/>
          <p:cNvSpPr/>
          <p:nvPr/>
        </p:nvSpPr>
        <p:spPr>
          <a:xfrm>
            <a:off x="411480" y="190195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Georgia"/>
                <a:ea typeface="Georgia"/>
                <a:cs typeface="Georgia"/>
                <a:sym typeface="Georgia"/>
              </a:rPr>
              <a:t>Logistic Regression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457200" y="2304288"/>
            <a:ext cx="24231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Linear decision boundary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L-BFGS solver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Max 1,000 iterations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Random seed: 42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Purpose: reference point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3172968" y="868680"/>
            <a:ext cx="269748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3172968" y="868680"/>
            <a:ext cx="2697480" cy="25603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3218688" y="886968"/>
            <a:ext cx="2606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MAIN MODEL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" name="Google Shape;10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7096" y="11887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6"/>
          <p:cNvSpPr/>
          <p:nvPr/>
        </p:nvSpPr>
        <p:spPr>
          <a:xfrm>
            <a:off x="3264408" y="190195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Georgia"/>
                <a:ea typeface="Georgia"/>
                <a:cs typeface="Georgia"/>
                <a:sym typeface="Georgia"/>
              </a:rPr>
              <a:t>Random Forest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3310128" y="2304288"/>
            <a:ext cx="24231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200 decision trees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Majority vote ensemble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Bootstrap aggregation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Parallel: n_jobs = -1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Captures non-linear patterns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6025896" y="868680"/>
            <a:ext cx="269748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6025896" y="868680"/>
            <a:ext cx="2697480" cy="256032"/>
          </a:xfrm>
          <a:prstGeom prst="rect">
            <a:avLst/>
          </a:prstGeom>
          <a:solidFill>
            <a:srgbClr val="E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6071616" y="886968"/>
            <a:ext cx="2606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MODULE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" name="Google Shape;11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50024" y="11887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6"/>
          <p:cNvSpPr/>
          <p:nvPr/>
        </p:nvSpPr>
        <p:spPr>
          <a:xfrm>
            <a:off x="6117336" y="190195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1B4332"/>
                </a:solidFill>
                <a:latin typeface="Georgia"/>
                <a:ea typeface="Georgia"/>
                <a:cs typeface="Georgia"/>
                <a:sym typeface="Georgia"/>
              </a:rPr>
              <a:t>Flan-T5-large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163056" y="2304288"/>
            <a:ext cx="24231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780M parameter LLM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Instruction-tuned (Google)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HuggingFace Inference 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Zero-shot explanation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Input: disease label → Output: explanation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320040" y="4206240"/>
            <a:ext cx="8503920" cy="59436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384048" y="4251960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1572768" y="4457700"/>
            <a:ext cx="228600" cy="91440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1819656" y="4251960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Histogram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(96-dim)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3008376" y="4457700"/>
            <a:ext cx="228600" cy="91440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3255264" y="4251960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Random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443984" y="4457700"/>
            <a:ext cx="228600" cy="9144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4690872" y="4251960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Disease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879592" y="4457700"/>
            <a:ext cx="228600" cy="9144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6126480" y="4251960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Flan-T5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7315200" y="4457700"/>
            <a:ext cx="228600" cy="91440"/>
          </a:xfrm>
          <a:prstGeom prst="rect">
            <a:avLst/>
          </a:prstGeom>
          <a:solidFill>
            <a:srgbClr val="E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7562088" y="4251960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Explanation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Farmer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0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Live Demo — iTiger Cluster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320040" y="896112"/>
            <a:ext cx="3200400" cy="3429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DE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457200" y="960120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What You'll See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57200" y="1335024"/>
            <a:ext cx="237744" cy="23774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457200" y="1344168"/>
            <a:ext cx="2377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768096" y="1344168"/>
            <a:ext cx="26334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train_model.py — full pipeline code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457200" y="1865376"/>
            <a:ext cx="237744" cy="23774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457200" y="1874520"/>
            <a:ext cx="2377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768096" y="1874520"/>
            <a:ext cx="26334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SLURM job 59910 output log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57200" y="2395728"/>
            <a:ext cx="237744" cy="23774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457200" y="2404872"/>
            <a:ext cx="2377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768096" y="2404872"/>
            <a:ext cx="26334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Model comparison table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57200" y="2926080"/>
            <a:ext cx="237744" cy="23774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457200" y="2935224"/>
            <a:ext cx="2377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68096" y="2935224"/>
            <a:ext cx="26334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model_comparison.json results file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57200" y="3456432"/>
            <a:ext cx="237744" cy="23774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457200" y="3465576"/>
            <a:ext cx="23774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768096" y="3465576"/>
            <a:ext cx="26334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explanations.txt — LLM outputs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3703320" y="896112"/>
            <a:ext cx="5120640" cy="3429000"/>
          </a:xfrm>
          <a:prstGeom prst="rect">
            <a:avLst/>
          </a:prstGeom>
          <a:solidFill>
            <a:srgbClr val="1B433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3840480" y="969264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52B788"/>
                </a:solidFill>
                <a:latin typeface="Georgia"/>
                <a:ea typeface="Georgia"/>
                <a:cs typeface="Georgia"/>
                <a:sym typeface="Georgia"/>
              </a:rPr>
              <a:t>Results Preview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3840480" y="1325880"/>
            <a:ext cx="1371600" cy="2743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3840480" y="1344168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Metric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5212080" y="1325880"/>
            <a:ext cx="1280160" cy="2743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5212080" y="1344168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LR Test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6492240" y="1325880"/>
            <a:ext cx="1280160" cy="2743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6492240" y="1344168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RF Test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3840480" y="1627632"/>
            <a:ext cx="1371600" cy="25603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3840480" y="164592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5212080" y="1627632"/>
            <a:ext cx="1280160" cy="25603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5212080" y="1645920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0.3105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6492240" y="1627632"/>
            <a:ext cx="1280160" cy="25603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6492240" y="1645920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0.6053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3840480" y="1901952"/>
            <a:ext cx="1371600" cy="2560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3840480" y="192024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5212080" y="1901952"/>
            <a:ext cx="1280160" cy="2560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5212080" y="1920240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0.2703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6492240" y="1901952"/>
            <a:ext cx="1280160" cy="2560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6492240" y="1920240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0.6288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3840480" y="2176272"/>
            <a:ext cx="1371600" cy="25603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3840480" y="219456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5212080" y="2176272"/>
            <a:ext cx="1280160" cy="25603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5212080" y="2194560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0.3105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6492240" y="2176272"/>
            <a:ext cx="1280160" cy="25603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6492240" y="2194560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0.6053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3840480" y="2450592"/>
            <a:ext cx="1371600" cy="2560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3840480" y="2468880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F1-Score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5212080" y="2450592"/>
            <a:ext cx="1280160" cy="2560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5212080" y="2468880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0.2567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6492240" y="2450592"/>
            <a:ext cx="1280160" cy="2560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6492240" y="2468880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0.5927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3840480" y="2779776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Random Forest: nearly 2× better than baseline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3840480" y="3127248"/>
            <a:ext cx="4846320" cy="54864"/>
          </a:xfrm>
          <a:prstGeom prst="rect">
            <a:avLst/>
          </a:prstGeom>
          <a:solidFill>
            <a:srgbClr val="74C69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3840480" y="3246120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E4C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7E4C7"/>
                </a:solidFill>
                <a:latin typeface="Calibri"/>
                <a:ea typeface="Calibri"/>
                <a:cs typeface="Calibri"/>
                <a:sym typeface="Calibri"/>
              </a:rPr>
              <a:t>Sample explanation output: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3840480" y="3493008"/>
            <a:ext cx="4846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4C69D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4C69D"/>
                </a:solidFill>
                <a:latin typeface="Calibri"/>
                <a:ea typeface="Calibri"/>
                <a:cs typeface="Calibri"/>
                <a:sym typeface="Calibri"/>
              </a:rPr>
              <a:t>"Tomato Yellow Leaf Curl Virus is transmitted by whiteflies, causing severe leaf curling and yield loss. Management: control whitefly vectors and plant resistant varieties."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32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1" name="Google Shape;191;p8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5943600" y="-27432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8"/>
          <p:cNvSpPr/>
          <p:nvPr/>
        </p:nvSpPr>
        <p:spPr>
          <a:xfrm>
            <a:off x="457200" y="32004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Summary — Vidal's Section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57200" y="960120"/>
            <a:ext cx="4572000" cy="457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457200" y="1143000"/>
            <a:ext cx="502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52B788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1051560" y="116128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1051560" y="1444752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E4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7E4C7"/>
                </a:solidFill>
                <a:latin typeface="Calibri"/>
                <a:ea typeface="Calibri"/>
                <a:cs typeface="Calibri"/>
                <a:sym typeface="Calibri"/>
              </a:rPr>
              <a:t>Plant diseases = 20–40% crop loss. Farmers need prediction + explanation.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457200" y="1965960"/>
            <a:ext cx="502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52B788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1051560" y="198424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1051560" y="2267712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E4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7E4C7"/>
                </a:solidFill>
                <a:latin typeface="Calibri"/>
                <a:ea typeface="Calibri"/>
                <a:cs typeface="Calibri"/>
                <a:sym typeface="Calibri"/>
              </a:rPr>
              <a:t>87K images, 38 classes. 1,520 train / 380 test via 80/20 stratified split.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57200" y="2788920"/>
            <a:ext cx="502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52B788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1051560" y="280720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1051560" y="3090672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E4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7E4C7"/>
                </a:solidFill>
                <a:latin typeface="Calibri"/>
                <a:ea typeface="Calibri"/>
                <a:cs typeface="Calibri"/>
                <a:sym typeface="Calibri"/>
              </a:rPr>
              <a:t>Logistic Regression (baseline) + Random Forest (200 trees) + Flan-T5 LLM.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457200" y="3611880"/>
            <a:ext cx="502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52B788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1051560" y="3630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1051560" y="3913632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E4C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7E4C7"/>
                </a:solidFill>
                <a:latin typeface="Calibri"/>
                <a:ea typeface="Calibri"/>
                <a:cs typeface="Calibri"/>
                <a:sym typeface="Calibri"/>
              </a:rPr>
              <a:t>Pipeline ran on iTiger job 59910. RF: 60.5% test accuracy, F1 = 0.59.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457200" y="4315968"/>
            <a:ext cx="8321040" cy="594360"/>
          </a:xfrm>
          <a:prstGeom prst="rect">
            <a:avLst/>
          </a:prstGeom>
          <a:solidFill>
            <a:srgbClr val="52B788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548640" y="4389120"/>
            <a:ext cx="8138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1B4332"/>
                </a:solidFill>
                <a:latin typeface="Georgia"/>
                <a:ea typeface="Georgia"/>
                <a:cs typeface="Georgia"/>
                <a:sym typeface="Georgia"/>
              </a:rPr>
              <a:t>Now over to Oscar — Results, Discussion, and Takeaways  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32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3" name="Google Shape;213;p9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5943600" y="-27432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9"/>
          <p:cNvSpPr/>
          <p:nvPr/>
        </p:nvSpPr>
        <p:spPr>
          <a:xfrm>
            <a:off x="457200" y="320040"/>
            <a:ext cx="5943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Experiment Setup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457200" y="960120"/>
            <a:ext cx="4572000" cy="456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 txBox="1"/>
          <p:nvPr/>
        </p:nvSpPr>
        <p:spPr>
          <a:xfrm>
            <a:off x="279000" y="1184275"/>
            <a:ext cx="5808600" cy="3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Run iTiger GPU cluster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SlURM Job ID: 59910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Pyhton 3.10 (Scikit-learn, NumPy, PIL)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1,900 samples (1,520 train / 380 test)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Metrics: Accuracy, </a:t>
            </a:r>
            <a:r>
              <a:rPr lang="en-US">
                <a:solidFill>
                  <a:schemeClr val="lt1"/>
                </a:solidFill>
              </a:rPr>
              <a:t>Precision, Recall F1-score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Random seed =42 (no tuning)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0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365760" y="73152"/>
            <a:ext cx="841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Model Performance Results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159700" y="960125"/>
            <a:ext cx="8813100" cy="3970500"/>
          </a:xfrm>
          <a:prstGeom prst="rect">
            <a:avLst/>
          </a:prstGeom>
          <a:solidFill>
            <a:srgbClr val="1B433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 txBox="1"/>
          <p:nvPr/>
        </p:nvSpPr>
        <p:spPr>
          <a:xfrm>
            <a:off x="929775" y="1210375"/>
            <a:ext cx="7189500" cy="3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-US">
                <a:solidFill>
                  <a:srgbClr val="FFFFFF"/>
                </a:solidFill>
              </a:rPr>
              <a:t>Logistic Regression: 31.05% accuracy</a:t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Percision: 27.03% | Recall: 31.05% | F1: 0.2567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Random Forest Forest: 60.53% accuracy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Precision: 62.88% | Recall: 60.53 | F1:0.5927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Random Forest = 2x better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NO OVERFITTING OBSERVED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0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365760" y="73152"/>
            <a:ext cx="841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LLM Explanation Outputs (Flan-T5)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159700" y="960125"/>
            <a:ext cx="8813100" cy="3970500"/>
          </a:xfrm>
          <a:prstGeom prst="rect">
            <a:avLst/>
          </a:prstGeom>
          <a:solidFill>
            <a:srgbClr val="1B433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 txBox="1"/>
          <p:nvPr/>
        </p:nvSpPr>
        <p:spPr>
          <a:xfrm>
            <a:off x="994550" y="1316225"/>
            <a:ext cx="7155000" cy="3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-US">
                <a:solidFill>
                  <a:srgbClr val="FFFFFF"/>
                </a:solidFill>
              </a:rPr>
              <a:t>Generates human readable explanations</a:t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-US">
                <a:solidFill>
                  <a:srgbClr val="FFFFFF"/>
                </a:solidFill>
              </a:rPr>
              <a:t>Explains disease, cause, and treatment</a:t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-US">
                <a:solidFill>
                  <a:srgbClr val="FFFFFF"/>
                </a:solidFill>
              </a:rPr>
              <a:t>Healthy —--&gt; “ NO DIEASE DETECTED”</a:t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-US">
                <a:solidFill>
                  <a:srgbClr val="FFFFFF"/>
                </a:solidFill>
              </a:rPr>
              <a:t>Example: Tomato Yellow Leaf Curl Virus</a:t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-US">
                <a:solidFill>
                  <a:srgbClr val="FFFFFF"/>
                </a:solidFill>
              </a:rPr>
              <a:t>Outputs: </a:t>
            </a:r>
            <a:r>
              <a:rPr lang="en-US">
                <a:solidFill>
                  <a:srgbClr val="FFFFFF"/>
                </a:solidFill>
              </a:rPr>
              <a:t>explanations</a:t>
            </a:r>
            <a:r>
              <a:rPr lang="en-US">
                <a:solidFill>
                  <a:srgbClr val="FFFFFF"/>
                </a:solidFill>
              </a:rPr>
              <a:t>.json &amp; .txt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0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2"/>
          <p:cNvSpPr/>
          <p:nvPr/>
        </p:nvSpPr>
        <p:spPr>
          <a:xfrm>
            <a:off x="365760" y="73152"/>
            <a:ext cx="841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Discussion and Limitations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159700" y="960125"/>
            <a:ext cx="8813100" cy="3970500"/>
          </a:xfrm>
          <a:prstGeom prst="rect">
            <a:avLst/>
          </a:prstGeom>
          <a:solidFill>
            <a:srgbClr val="1B433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"/>
          <p:cNvSpPr txBox="1"/>
          <p:nvPr/>
        </p:nvSpPr>
        <p:spPr>
          <a:xfrm>
            <a:off x="994550" y="1316225"/>
            <a:ext cx="7155000" cy="3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-US">
                <a:solidFill>
                  <a:srgbClr val="FFFFFF"/>
                </a:solidFill>
              </a:rPr>
              <a:t>Random Forest captures non-linear patterns</a:t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-US">
                <a:solidFill>
                  <a:srgbClr val="FFFFFF"/>
                </a:solidFill>
              </a:rPr>
              <a:t>RGB histogram loses spatial info</a:t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-US">
                <a:solidFill>
                  <a:srgbClr val="FFFFFF"/>
                </a:solidFill>
              </a:rPr>
              <a:t>Small dataset (1,900 vs 87k)</a:t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-US">
                <a:solidFill>
                  <a:srgbClr val="FFFFFF"/>
                </a:solidFill>
              </a:rPr>
              <a:t>LLM depends on external API</a:t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-US">
                <a:solidFill>
                  <a:srgbClr val="FFFFFF"/>
                </a:solidFill>
              </a:rPr>
              <a:t>Prediction + Explanation &gt; Prediction alone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0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"/>
          <p:cNvSpPr/>
          <p:nvPr/>
        </p:nvSpPr>
        <p:spPr>
          <a:xfrm>
            <a:off x="365760" y="73152"/>
            <a:ext cx="841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Takeaways and Future work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159700" y="960125"/>
            <a:ext cx="8813100" cy="3970500"/>
          </a:xfrm>
          <a:prstGeom prst="rect">
            <a:avLst/>
          </a:prstGeom>
          <a:solidFill>
            <a:srgbClr val="1B433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3"/>
          <p:cNvSpPr txBox="1"/>
          <p:nvPr/>
        </p:nvSpPr>
        <p:spPr>
          <a:xfrm>
            <a:off x="994550" y="1316225"/>
            <a:ext cx="7155000" cy="3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-US">
                <a:solidFill>
                  <a:srgbClr val="FFFFFF"/>
                </a:solidFill>
              </a:rPr>
              <a:t>ML + LLM improves usability</a:t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-US">
                <a:solidFill>
                  <a:srgbClr val="FFFFFF"/>
                </a:solidFill>
              </a:rPr>
              <a:t>Actionable insights for farmers</a:t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-US">
                <a:solidFill>
                  <a:srgbClr val="FFFFFF"/>
                </a:solidFill>
              </a:rPr>
              <a:t>Future: CNNs for better accuracy</a:t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-US">
                <a:solidFill>
                  <a:srgbClr val="FFFFFF"/>
                </a:solidFill>
              </a:rPr>
              <a:t>Use full dataset (87k images)</a:t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-US">
                <a:solidFill>
                  <a:srgbClr val="FFFFFF"/>
                </a:solidFill>
              </a:rPr>
              <a:t>Deploy as web/mobile app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0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4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4"/>
          <p:cNvSpPr/>
          <p:nvPr/>
        </p:nvSpPr>
        <p:spPr>
          <a:xfrm>
            <a:off x="365760" y="73152"/>
            <a:ext cx="841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Output Pictures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159700" y="960125"/>
            <a:ext cx="8813100" cy="3970500"/>
          </a:xfrm>
          <a:prstGeom prst="rect">
            <a:avLst/>
          </a:prstGeom>
          <a:solidFill>
            <a:srgbClr val="1B433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4"/>
          <p:cNvSpPr txBox="1"/>
          <p:nvPr/>
        </p:nvSpPr>
        <p:spPr>
          <a:xfrm>
            <a:off x="915175" y="1316225"/>
            <a:ext cx="7155000" cy="3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262" name="Google Shape;262;p14" title="Screenshot 2026-04-30 at 10.34.2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850" y="1156425"/>
            <a:ext cx="1171063" cy="1759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4" title="Screenshot 2026-04-30 at 10.34.3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9937" y="1145450"/>
            <a:ext cx="3197050" cy="1781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4" title="Screenshot 2026-04-30 at 10.34.37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150" y="3073450"/>
            <a:ext cx="2478925" cy="1656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4" title="Screenshot 2026-04-30 at 10.34.42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07800" y="3038025"/>
            <a:ext cx="2618782" cy="175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32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1" name="Google Shape;271;p15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5943600" y="-27432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5"/>
          <p:cNvSpPr/>
          <p:nvPr/>
        </p:nvSpPr>
        <p:spPr>
          <a:xfrm>
            <a:off x="457200" y="320040"/>
            <a:ext cx="5943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Summary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/>
          <p:nvPr/>
        </p:nvSpPr>
        <p:spPr>
          <a:xfrm>
            <a:off x="457200" y="960120"/>
            <a:ext cx="4572000" cy="456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5"/>
          <p:cNvSpPr txBox="1"/>
          <p:nvPr/>
        </p:nvSpPr>
        <p:spPr>
          <a:xfrm>
            <a:off x="279000" y="1184275"/>
            <a:ext cx="7533300" cy="3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00">
                <a:solidFill>
                  <a:schemeClr val="lt1"/>
                </a:solidFill>
              </a:rPr>
              <a:t>THANK YOU</a:t>
            </a:r>
            <a:endParaRPr sz="7400">
              <a:solidFill>
                <a:schemeClr val="lt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chemeClr val="lt1"/>
                </a:solidFill>
              </a:rPr>
              <a:t>ANY QUESTIONS?</a:t>
            </a:r>
            <a:endParaRPr sz="5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